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713" r:id="rId5"/>
  </p:sldMasterIdLst>
  <p:notesMasterIdLst>
    <p:notesMasterId r:id="rId16"/>
  </p:notesMasterIdLst>
  <p:handoutMasterIdLst>
    <p:handoutMasterId r:id="rId17"/>
  </p:handoutMasterIdLst>
  <p:sldIdLst>
    <p:sldId id="292" r:id="rId6"/>
    <p:sldId id="296" r:id="rId7"/>
    <p:sldId id="297" r:id="rId8"/>
    <p:sldId id="298" r:id="rId9"/>
    <p:sldId id="299" r:id="rId10"/>
    <p:sldId id="276" r:id="rId11"/>
    <p:sldId id="300" r:id="rId12"/>
    <p:sldId id="277" r:id="rId13"/>
    <p:sldId id="288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973"/>
    <a:srgbClr val="446992"/>
    <a:srgbClr val="AEC2D8"/>
    <a:srgbClr val="98432A"/>
    <a:srgbClr val="D84400"/>
    <a:srgbClr val="44678D"/>
    <a:srgbClr val="263E5A"/>
    <a:srgbClr val="D6E0EB"/>
    <a:srgbClr val="728DAB"/>
    <a:srgbClr val="C9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720" y="7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6175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39327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2674919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73523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26609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59181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8520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15836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92662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144567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143428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185583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1364359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201521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193584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216182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2242903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492606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5324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730867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482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253295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44003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49578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3791647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23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662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3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787079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43678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4404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38135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7423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536E-48B2-FD07-8E21-A4724F9B7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E1CD8-6A00-C4DF-5149-6E3CEC605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CAE18-AB63-3A8B-7165-1C48D058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FD0CD-E736-D957-FAF9-0899E99A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65061-3641-7F9F-BA93-82891310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387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28A3-6AF8-E1AC-CCFC-9CBCAF390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F915-876E-DC79-FFB5-C4801B9D6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6BF77-029B-F756-15AC-EBC2FCA3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AFA9C-A63A-0242-EA39-69B0EB6F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44A8-639C-0D63-D192-556E9253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949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5A74-B2DB-8501-CC18-239BE8A6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94C02-E4E8-092C-2F51-B3827C9D8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D45C3-7774-FD6A-E653-F59538F3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0337-DA33-1D04-C062-4B77A5C8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85688-E0F4-05E1-E5CE-38E333C1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493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B8DB-2708-FC97-B58D-CE4175E2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4BD7-CCC6-5633-35CE-D4907CA8C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19F40-FE5C-7522-C06A-B12106775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ACAC1-6B0E-8F5F-1A1C-3F3B8C50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2C3D9-FCE7-3617-CF1D-CEA4C9D5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A54AC-9282-E3A2-DEB7-B432457B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2229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F460-6A02-18A7-5D92-19534BED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FF921-1B9C-1E7B-346B-66EA31980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4BAB8-49FF-796C-5AE1-D692D41D9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82390-5CC8-3F79-C5AC-C1B78573B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D582D-FDD3-DCEE-15F3-79A6FE775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928A4-6E05-3ECD-10C8-F97C5012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63681-5031-E904-DB9B-541405140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FF612-EE8A-AEB5-C99B-DB15D733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4005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E52C-5A1D-4506-B270-964BF011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B23C-DD24-73F2-319A-289C2076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43E5C-6354-4715-CE2C-8C462F55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3E98-52BA-1301-4854-5F7CD2FE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4829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1C5CD-0971-DB39-C7A6-73B5A30B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DF64D-012F-1D5D-606F-192E3BD8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3974D-C6F6-C8E2-18BC-724D49A9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87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23E9-E080-0F3A-D1AC-B4505593A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2C72-8826-96FC-B174-09C62F00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94FA2-E415-37A0-711A-B07D1780C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198BF-FFED-4BB4-2FEC-5EE23473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E44D0-5368-926F-5B89-CB735B8F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E05C2-6FD5-2DE8-B4F3-455E9403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532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7AD4-F8BD-F493-CB53-97043AC49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2491FC-CCD8-E321-B2E0-207CA4FEB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4C857-7780-C710-754E-30C58847F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F9372-581B-89B3-7F64-5D5B8A84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D2B8E-B338-4629-60EC-B710D668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B5160-6221-3FAA-E756-89F71652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2971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CA37-2878-BB4B-B750-382BA52B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0044D-E6BD-9736-517E-078D85226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7F764-9576-C75C-CBE1-50877576B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FA269-8649-7A19-1394-9F880DF3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47364-7973-7C49-5855-27862AD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90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AE087E-5B8E-0A55-11DD-D2C5FBC51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27E6A-B2D3-CE3D-8884-838322C41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FFFC-2146-C96E-3221-781537DD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DDBCB-A12B-7AD8-2F8B-322929D3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0DAE-0B33-F5B8-334D-41A165A7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37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350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700" r:id="rId30"/>
    <p:sldLayoutId id="2147483701" r:id="rId31"/>
    <p:sldLayoutId id="2147483711" r:id="rId32"/>
    <p:sldLayoutId id="2147483712" r:id="rId33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  <p15:guide id="32" orient="horz" pos="4032">
          <p15:clr>
            <a:srgbClr val="F26B43"/>
          </p15:clr>
        </p15:guide>
        <p15:guide id="33" pos="3840">
          <p15:clr>
            <a:srgbClr val="F26B43"/>
          </p15:clr>
        </p15:guide>
        <p15:guide id="34" pos="5640">
          <p15:clr>
            <a:srgbClr val="F26B43"/>
          </p15:clr>
        </p15:guide>
        <p15:guide id="35" pos="1656">
          <p15:clr>
            <a:srgbClr val="F26B43"/>
          </p15:clr>
        </p15:guide>
        <p15:guide id="36" pos="52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38512-91BE-913A-8021-F6E15D7A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34131-4D10-FC63-3A17-B1FF0F47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F400D-EAD2-0F6C-330A-FBF9EB21D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25D97-73BE-4F22-AE53-16977E1542F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ABCCC-31DF-1256-BBAF-758992A6D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3FFB-54A2-93CE-1F50-DC9421BEB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912B6-7BC5-45E3-8AA8-CFC6D5018E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1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Mlc_fvIrK793HedcpwbEpv13LdAs4yBg" TargetMode="Externa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82" y="2574407"/>
            <a:ext cx="6127630" cy="2057441"/>
          </a:xfrm>
        </p:spPr>
        <p:txBody>
          <a:bodyPr/>
          <a:lstStyle/>
          <a:p>
            <a:pPr algn="ctr">
              <a:defRPr sz="4000" b="1"/>
            </a:pPr>
            <a:r>
              <a:rPr lang="en-US" dirty="0">
                <a:latin typeface="Bernard MT Condensed" panose="02050806060905020404" pitchFamily="18" charset="0"/>
              </a:rPr>
              <a:t>BlinkIT Sales &amp; Outlet Analysis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CAAE132-0BF3-BC44-F297-36DBA56CC48C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4672" r="24672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9081" y="1058060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4A973">
              <a:alpha val="38000"/>
            </a:srgbClr>
          </a:solidFill>
          <a:ln w="19050" cap="flat" cmpd="sng" algn="ctr">
            <a:noFill/>
            <a:prstDash val="solid"/>
            <a:miter lim="800000"/>
          </a:ln>
          <a:effectLst>
            <a:softEdge rad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E35F4-63C9-2AF7-3F57-083F2AAAC3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000303" y="2929823"/>
            <a:ext cx="1867186" cy="2976454"/>
          </a:xfrm>
        </p:spPr>
        <p:txBody>
          <a:bodyPr/>
          <a:lstStyle/>
          <a:p>
            <a:r>
              <a:rPr lang="en-US" sz="2000" b="1" dirty="0"/>
              <a:t>Identify the major factors influencing total sales and average sales.</a:t>
            </a:r>
          </a:p>
          <a:p>
            <a:endParaRPr lang="en-US" sz="2000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8C7DF-9C49-20E1-8459-47DB024527D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8200" y="2929823"/>
            <a:ext cx="1865376" cy="2976454"/>
          </a:xfrm>
        </p:spPr>
        <p:txBody>
          <a:bodyPr/>
          <a:lstStyle/>
          <a:p>
            <a:r>
              <a:rPr lang="en-US" sz="2000" dirty="0"/>
              <a:t>Analyze BlinkIT outlet sales and product performance using Excel.</a:t>
            </a:r>
          </a:p>
          <a:p>
            <a:endParaRPr lang="en-US" sz="20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A1AB5DB-C57A-0280-24C3-D2CC6E57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Project Objective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0701A-02B7-5669-6CB2-AA5A7AFF01B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164216" y="2929823"/>
            <a:ext cx="1865376" cy="2976455"/>
          </a:xfrm>
        </p:spPr>
        <p:txBody>
          <a:bodyPr/>
          <a:lstStyle/>
          <a:p>
            <a:endParaRPr lang="en-US" sz="2000" dirty="0"/>
          </a:p>
          <a:p>
            <a:r>
              <a:rPr lang="en-US" sz="2000" dirty="0"/>
              <a:t>Compare performance across item categories, fat content, outlet size, location and establishment year.</a:t>
            </a:r>
          </a:p>
          <a:p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5E7B5-5692-DA3D-96EE-5ED34EE61C4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326319" y="2929823"/>
            <a:ext cx="1865376" cy="2976454"/>
          </a:xfrm>
        </p:spPr>
        <p:txBody>
          <a:bodyPr/>
          <a:lstStyle/>
          <a:p>
            <a:r>
              <a:rPr lang="en-US" sz="2000" dirty="0"/>
              <a:t>Build a dashboard that converts raw data into clear business insights.</a:t>
            </a:r>
          </a:p>
          <a:p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00856C-4F88-E08F-7E87-1DEC43F1505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488424" y="2929823"/>
            <a:ext cx="1865376" cy="2976454"/>
          </a:xfrm>
        </p:spPr>
        <p:txBody>
          <a:bodyPr/>
          <a:lstStyle/>
          <a:p>
            <a:r>
              <a:rPr lang="en-US" sz="2000" dirty="0"/>
              <a:t>Use the analysis to suggest practical actions for improving outlet performance.</a:t>
            </a:r>
          </a:p>
          <a:p>
            <a:endParaRPr lang="en-US" sz="2000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C5D2160-2971-E84A-9813-7B8A13C61B72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noProof="0" dirty="0"/>
              <a:t>BlinkIT Sales &amp; Outlet Analysis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33B2B5-A736-6A8C-92BE-B06FA0D57B3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229354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  <p:bldP spid="2" grpId="0" build="allAtOnce" animBg="1"/>
      <p:bldP spid="8" grpId="0"/>
      <p:bldP spid="4" grpId="0" build="allAtOnce" animBg="1"/>
      <p:bldP spid="5" grpId="0" build="allAtOnce" animBg="1"/>
      <p:bldP spid="6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62D7-7E12-5985-7DC1-1AC7C045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Dataset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2710A-910C-E896-DADA-7CE4DE13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BlinkIT Sales &amp; Outlet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99E09-ED2C-E731-8371-6E7A0F4C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F0C1F-CF23-EBD3-BB8A-E30D83F5D1D4}"/>
              </a:ext>
            </a:extLst>
          </p:cNvPr>
          <p:cNvSpPr txBox="1"/>
          <p:nvPr/>
        </p:nvSpPr>
        <p:spPr>
          <a:xfrm>
            <a:off x="1088136" y="2192694"/>
            <a:ext cx="1003706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/>
              <a:t>Source : - </a:t>
            </a:r>
            <a:r>
              <a:rPr lang="en-US" dirty="0">
                <a:hlinkClick r:id="rId2"/>
              </a:rPr>
              <a:t>https://drive.google.com/drive/folders/1Mlc_fvIrK793HedcpwbEpv13LdAs4yBg</a:t>
            </a:r>
            <a:endParaRPr lang="en-US" dirty="0"/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Primary worksheet: BlinkIT Data.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The workbook also contains Reports and Dashboard sheets for analysis and presentation.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The data captures product attributes, outlet characteristics, sales and ratings.</a:t>
            </a:r>
          </a:p>
          <a:p>
            <a:pPr marL="285750" indent="-285750">
              <a:lnSpc>
                <a:spcPct val="200000"/>
              </a:lnSpc>
              <a:spcAft>
                <a:spcPts val="1200"/>
              </a:spcAft>
              <a:buFont typeface="Wingdings" panose="05000000000000000000" pitchFamily="2" charset="2"/>
              <a:buChar char="§"/>
              <a:defRPr sz="1800"/>
            </a:pPr>
            <a:r>
              <a:rPr lang="en-US" dirty="0"/>
              <a:t>Excel was used for data organization, aggregation, KPI reporting and visualization.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0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8FAC-FE68-62EC-8DEA-24B86864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Key Performance Indicators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3D286-DE9A-6443-C0CB-0A4E7A3A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BlinkIT Sales &amp; Outlet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9D8B1-C415-2EF7-5CC5-7D593CD5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61E83482-3F8F-349D-5618-DBA0A01B8754}"/>
              </a:ext>
            </a:extLst>
          </p:cNvPr>
          <p:cNvSpPr/>
          <p:nvPr/>
        </p:nvSpPr>
        <p:spPr>
          <a:xfrm>
            <a:off x="621419" y="2155371"/>
            <a:ext cx="2560320" cy="18288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rPr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1.20M</a:t>
            </a:r>
          </a:p>
          <a:p>
            <a:pPr algn="ctr">
              <a:defRPr sz="1200"/>
            </a:pPr>
            <a:r>
              <a:rPr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Total Sales</a:t>
            </a: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2F32D57-2C34-7DA9-2D5B-71716921F0AE}"/>
              </a:ext>
            </a:extLst>
          </p:cNvPr>
          <p:cNvSpPr/>
          <p:nvPr/>
        </p:nvSpPr>
        <p:spPr>
          <a:xfrm>
            <a:off x="3535679" y="2155371"/>
            <a:ext cx="2560320" cy="18288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140.99</a:t>
            </a:r>
          </a:p>
          <a:p>
            <a:pPr algn="ctr"/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Average Sales</a:t>
            </a:r>
          </a:p>
          <a:p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5C5D268A-1445-D7F8-D874-0B1ECA525A00}"/>
              </a:ext>
            </a:extLst>
          </p:cNvPr>
          <p:cNvSpPr/>
          <p:nvPr/>
        </p:nvSpPr>
        <p:spPr>
          <a:xfrm>
            <a:off x="6538037" y="2155371"/>
            <a:ext cx="2560320" cy="18288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endParaRPr lang="en-US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>
              <a:defRPr sz="2600" b="1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8,523</a:t>
            </a:r>
            <a:endParaRPr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kumimoji="0" lang="en-US" sz="1200" b="1" i="0" u="none" strike="noStrike" kern="1200" spc="50" normalizeH="0" baseline="0" noProof="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Number of Items</a:t>
            </a:r>
          </a:p>
          <a:p>
            <a:pPr algn="ctr">
              <a:defRPr sz="1200"/>
            </a:pPr>
            <a:endParaRPr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3F651E9-B193-FF2C-3742-23F95B148BFC}"/>
              </a:ext>
            </a:extLst>
          </p:cNvPr>
          <p:cNvSpPr/>
          <p:nvPr/>
        </p:nvSpPr>
        <p:spPr>
          <a:xfrm>
            <a:off x="9540395" y="2155371"/>
            <a:ext cx="2560320" cy="18288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3.97</a:t>
            </a:r>
            <a:endParaRPr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>
              <a:defRPr sz="1200"/>
            </a:pPr>
            <a:r>
              <a:rPr lang="en-US" sz="1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Average Rating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>
              <a:defRPr sz="1200"/>
            </a:pPr>
            <a:endParaRPr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AFDD1-0DFE-4770-2F27-490F7F5BEDF3}"/>
              </a:ext>
            </a:extLst>
          </p:cNvPr>
          <p:cNvSpPr txBox="1"/>
          <p:nvPr/>
        </p:nvSpPr>
        <p:spPr>
          <a:xfrm>
            <a:off x="1212980" y="4572000"/>
            <a:ext cx="9310784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700"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KPIs provide a high-level view of overall business performance.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700"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dashboard can be used to monitor the same indicators while drilling into outlet and product dimensions.</a:t>
            </a:r>
          </a:p>
        </p:txBody>
      </p:sp>
    </p:spTree>
    <p:extLst>
      <p:ext uri="{BB962C8B-B14F-4D97-AF65-F5344CB8AC3E}">
        <p14:creationId xmlns:p14="http://schemas.microsoft.com/office/powerpoint/2010/main" val="204304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D8C9-E6DF-F84A-AD08-4D1CBFFD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ernard MT Condensed" panose="02050806060905020404" pitchFamily="18" charset="0"/>
              </a:rPr>
              <a:t>Analysis Dimensions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EA3A5-825F-C003-AF40-6AC29132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BlinkIT Sales &amp; Outlet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ABD04-82A7-7DE7-ACC3-1AA6B39C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B5874-2008-59EA-2B0A-A4FDE242716C}"/>
              </a:ext>
            </a:extLst>
          </p:cNvPr>
          <p:cNvSpPr txBox="1"/>
          <p:nvPr/>
        </p:nvSpPr>
        <p:spPr>
          <a:xfrm>
            <a:off x="1156996" y="2043404"/>
            <a:ext cx="9946868" cy="3578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Aptos Narrow" panose="020B0004020202020204" pitchFamily="34" charset="0"/>
              </a:rPr>
              <a:t>Item Type — compare sales contribution across product categories.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Aptos Narrow" panose="020B0004020202020204" pitchFamily="34" charset="0"/>
              </a:rPr>
              <a:t>Fat Content — understand sales patterns for low-fat versus regular products.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Aptos Narrow" panose="020B0004020202020204" pitchFamily="34" charset="0"/>
              </a:rPr>
              <a:t>Outlet Size — compare small, medium and large outlet performance.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Aptos Narrow" panose="020B0004020202020204" pitchFamily="34" charset="0"/>
              </a:rPr>
              <a:t>Outlet Location — evaluate Tier 1, Tier 2 and Tier 3 market performance.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Aptos Narrow" panose="020B0004020202020204" pitchFamily="34" charset="0"/>
              </a:rPr>
              <a:t>Outlet Type — compare grocery/supermarket formats.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Aptos Narrow" panose="020B0004020202020204" pitchFamily="34" charset="0"/>
              </a:rPr>
              <a:t>Establishment Year — examine how outlet age relates to sales.</a:t>
            </a:r>
          </a:p>
        </p:txBody>
      </p:sp>
    </p:spTree>
    <p:extLst>
      <p:ext uri="{BB962C8B-B14F-4D97-AF65-F5344CB8AC3E}">
        <p14:creationId xmlns:p14="http://schemas.microsoft.com/office/powerpoint/2010/main" val="114469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41" y="403616"/>
            <a:ext cx="5117162" cy="1325563"/>
          </a:xfrm>
        </p:spPr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Excel Dashboard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770895" y="6547197"/>
            <a:ext cx="8562760" cy="419100"/>
          </a:xfrm>
        </p:spPr>
        <p:txBody>
          <a:bodyPr/>
          <a:lstStyle/>
          <a:p>
            <a:r>
              <a:rPr lang="en-US" dirty="0"/>
              <a:t>BlinkIT Sales &amp; Outlet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EAF4DC-4BAB-1919-A6BC-73932D2AD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41" y="1066398"/>
            <a:ext cx="10869718" cy="556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DDD7D-E4AC-1B2C-8489-48777E30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127" y="6102998"/>
            <a:ext cx="8562760" cy="4191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B7220-A95F-AAF4-594C-E9A762F8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1755" y="6102998"/>
            <a:ext cx="601436" cy="419100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9EE0F9E-3D51-6402-263E-23917BAA7285}"/>
              </a:ext>
            </a:extLst>
          </p:cNvPr>
          <p:cNvSpPr/>
          <p:nvPr/>
        </p:nvSpPr>
        <p:spPr>
          <a:xfrm>
            <a:off x="668071" y="898538"/>
            <a:ext cx="2560320" cy="155448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rPr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1.20M</a:t>
            </a:r>
          </a:p>
          <a:p>
            <a:pPr algn="ctr">
              <a:defRPr sz="1200"/>
            </a:pPr>
            <a:r>
              <a:rPr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Total Sales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50E27BE-4C31-FCE5-032F-C3619FE1D3A3}"/>
              </a:ext>
            </a:extLst>
          </p:cNvPr>
          <p:cNvSpPr/>
          <p:nvPr/>
        </p:nvSpPr>
        <p:spPr>
          <a:xfrm>
            <a:off x="3502711" y="898538"/>
            <a:ext cx="2560320" cy="155448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140.99</a:t>
            </a:r>
          </a:p>
          <a:p>
            <a:pPr algn="ctr">
              <a:defRPr sz="1200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Avg Sales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61A973DB-CE8F-4752-5859-E2159A2C538E}"/>
              </a:ext>
            </a:extLst>
          </p:cNvPr>
          <p:cNvSpPr/>
          <p:nvPr/>
        </p:nvSpPr>
        <p:spPr>
          <a:xfrm>
            <a:off x="6337351" y="898538"/>
            <a:ext cx="2560320" cy="155448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8,523</a:t>
            </a:r>
          </a:p>
          <a:p>
            <a:pPr algn="ctr">
              <a:defRPr sz="1200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Items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E3858A76-A56E-71A4-9336-CC48A821B8E4}"/>
              </a:ext>
            </a:extLst>
          </p:cNvPr>
          <p:cNvSpPr/>
          <p:nvPr/>
        </p:nvSpPr>
        <p:spPr>
          <a:xfrm>
            <a:off x="9171991" y="898538"/>
            <a:ext cx="2377440" cy="155448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3.97</a:t>
            </a:r>
          </a:p>
          <a:p>
            <a:pPr algn="ctr">
              <a:defRPr sz="1200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Rating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85BAB7F2-7582-12BC-C867-872DFAD4263A}"/>
              </a:ext>
            </a:extLst>
          </p:cNvPr>
          <p:cNvSpPr/>
          <p:nvPr/>
        </p:nvSpPr>
        <p:spPr>
          <a:xfrm>
            <a:off x="668071" y="2818778"/>
            <a:ext cx="3474720" cy="20574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/>
            </a:pPr>
            <a:r>
              <a:rPr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Product Analysis</a:t>
            </a:r>
          </a:p>
          <a:p>
            <a:pPr algn="ctr">
              <a:defRPr sz="1400"/>
            </a:pPr>
            <a:r>
              <a:rPr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Item type and fat-content comparisons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615BDCAE-C13F-4EE1-4AEF-AC176AD3BEDD}"/>
              </a:ext>
            </a:extLst>
          </p:cNvPr>
          <p:cNvSpPr/>
          <p:nvPr/>
        </p:nvSpPr>
        <p:spPr>
          <a:xfrm>
            <a:off x="4371391" y="2818778"/>
            <a:ext cx="3474720" cy="20574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Outlet Analysis</a:t>
            </a:r>
          </a:p>
          <a:p>
            <a:pPr algn="ctr">
              <a:defRPr sz="1400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Size, type and establishment-year comparisons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A251E7F9-005C-2709-B736-07F0292F85D1}"/>
              </a:ext>
            </a:extLst>
          </p:cNvPr>
          <p:cNvSpPr/>
          <p:nvPr/>
        </p:nvSpPr>
        <p:spPr>
          <a:xfrm>
            <a:off x="8074711" y="2818778"/>
            <a:ext cx="3474720" cy="20574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2">
                <a:lumMod val="1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Location Analysis</a:t>
            </a:r>
          </a:p>
          <a:p>
            <a:pPr algn="ctr">
              <a:defRPr sz="1400"/>
            </a:pPr>
            <a:r>
              <a:rPr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Tier-level market performance</a:t>
            </a:r>
          </a:p>
        </p:txBody>
      </p:sp>
    </p:spTree>
    <p:extLst>
      <p:ext uri="{BB962C8B-B14F-4D97-AF65-F5344CB8AC3E}">
        <p14:creationId xmlns:p14="http://schemas.microsoft.com/office/powerpoint/2010/main" val="1797728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0"/>
            <a:ext cx="5167359" cy="1903445"/>
          </a:xfrm>
        </p:spPr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ANNUAL REVENUE GROWTH</a:t>
            </a:r>
          </a:p>
          <a:p>
            <a:endParaRPr lang="en-US" dirty="0"/>
          </a:p>
        </p:txBody>
      </p:sp>
      <p:pic>
        <p:nvPicPr>
          <p:cNvPr id="48" name="Picture placeholder 19" descr="Layout of website design sketches on white paper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" b="7"/>
          <a:stretch/>
        </p:blipFill>
        <p:spPr>
          <a:blipFill>
            <a:blip r:embed="rId4"/>
            <a:stretch>
              <a:fillRect/>
            </a:stretch>
          </a:blip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AD0B48-B890-5EFE-119B-7BE8585E58AC}"/>
              </a:ext>
            </a:extLst>
          </p:cNvPr>
          <p:cNvSpPr txBox="1"/>
          <p:nvPr/>
        </p:nvSpPr>
        <p:spPr>
          <a:xfrm>
            <a:off x="6114560" y="1903445"/>
            <a:ext cx="549573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spcAft>
                <a:spcPts val="1200"/>
              </a:spcAft>
              <a:buFont typeface="+mj-lt"/>
              <a:buAutoNum type="romanLcPeriod"/>
              <a:defRPr sz="18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Prioritize high-performing item categories in inventory planning and promotions.</a:t>
            </a:r>
          </a:p>
          <a:p>
            <a:pPr marL="400050" indent="-400050">
              <a:spcAft>
                <a:spcPts val="1200"/>
              </a:spcAft>
              <a:buFont typeface="+mj-lt"/>
              <a:buAutoNum type="romanLcPeriod"/>
              <a:defRPr sz="18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Use outlet-size and outlet-type comparisons to identify formats that deserve expansion or optimization.</a:t>
            </a:r>
          </a:p>
          <a:p>
            <a:pPr marL="400050" indent="-400050">
              <a:spcAft>
                <a:spcPts val="1200"/>
              </a:spcAft>
              <a:buFont typeface="+mj-lt"/>
              <a:buAutoNum type="romanLcPeriod"/>
              <a:defRPr sz="18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Focus localized marketing and assortment decisions on stronger-performing market tiers.</a:t>
            </a:r>
          </a:p>
          <a:p>
            <a:pPr marL="400050" indent="-400050">
              <a:spcAft>
                <a:spcPts val="1200"/>
              </a:spcAft>
              <a:buFont typeface="+mj-lt"/>
              <a:buAutoNum type="romanLcPeriod"/>
              <a:defRPr sz="18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Track ratings alongside sales to avoid increasing revenue at the expense of customer experience.</a:t>
            </a:r>
          </a:p>
          <a:p>
            <a:pPr marL="400050" indent="-400050">
              <a:spcAft>
                <a:spcPts val="1200"/>
              </a:spcAft>
              <a:buFont typeface="+mj-lt"/>
              <a:buAutoNum type="romanLcPeriod"/>
              <a:defRPr sz="1800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Refresh the dashboard regularly so management can monitor changes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" r="12"/>
          <a:stretch>
            <a:fillRect/>
          </a:stretch>
        </p:blipFill>
        <p:spPr/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9970" y="1203563"/>
            <a:ext cx="5646030" cy="5029285"/>
          </a:xfrm>
        </p:spPr>
        <p:txBody>
          <a:bodyPr/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Excel provides a practical way to transform raw BlinkIT data into actionable business intelligence.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The project combines KPI tracking, segmentation and dashboard reporting.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The analysis highlights how product and outlet characteristics can be used to understand sales performance.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A well-designed dashboard makes the findings easier for decision-makers to interpret and act on.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  <a:defRPr sz="1800"/>
            </a:pPr>
            <a:r>
              <a:rPr lang="en-US" dirty="0"/>
              <a:t>Overall, the project demonstrates the use of Excel for real-world data analysis.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64" y="272159"/>
            <a:ext cx="3382769" cy="1325563"/>
          </a:xfrm>
        </p:spPr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 dirty="0"/>
              <a:t>BlinkIT Sales &amp; Outlet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" r="34"/>
          <a:stretch/>
        </p:blipFill>
        <p:spPr/>
      </p:pic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" r="34"/>
          <a:stretch/>
        </p:blipFill>
        <p:spPr/>
      </p:pic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" r="88"/>
          <a:stretch>
            <a:fillRect/>
          </a:stretch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" r="34"/>
          <a:stretch/>
        </p:blipFill>
        <p:spPr/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439" y="1176535"/>
            <a:ext cx="5055698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jor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80</TotalTime>
  <Words>468</Words>
  <Application>Microsoft Office PowerPoint</Application>
  <PresentationFormat>Widescreen</PresentationFormat>
  <Paragraphs>82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等线</vt:lpstr>
      <vt:lpstr>Aptos</vt:lpstr>
      <vt:lpstr>Aptos Display</vt:lpstr>
      <vt:lpstr>Aptos Narrow</vt:lpstr>
      <vt:lpstr>Arial</vt:lpstr>
      <vt:lpstr>Bernard MT Condensed</vt:lpstr>
      <vt:lpstr>Calibri</vt:lpstr>
      <vt:lpstr>Courier New</vt:lpstr>
      <vt:lpstr>Neue Haas Grotesk Text Pro</vt:lpstr>
      <vt:lpstr>Posterama Text SemiBold</vt:lpstr>
      <vt:lpstr>System Font Regular</vt:lpstr>
      <vt:lpstr>Wingdings</vt:lpstr>
      <vt:lpstr>Bjorn</vt:lpstr>
      <vt:lpstr>Custom Design</vt:lpstr>
      <vt:lpstr>BlinkIT Sales &amp; Outlet Analysis</vt:lpstr>
      <vt:lpstr>Project Objective</vt:lpstr>
      <vt:lpstr>Dataset Overview</vt:lpstr>
      <vt:lpstr>Key Performance Indicators</vt:lpstr>
      <vt:lpstr>Analysis Dimensions</vt:lpstr>
      <vt:lpstr>Excel Dashboard</vt:lpstr>
      <vt:lpstr>PowerPoint Presentation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Jangid</dc:creator>
  <cp:lastModifiedBy>Akash Nair</cp:lastModifiedBy>
  <cp:revision>3</cp:revision>
  <dcterms:created xsi:type="dcterms:W3CDTF">2026-09-01T23:01:20Z</dcterms:created>
  <dcterms:modified xsi:type="dcterms:W3CDTF">2026-09-11T07:53:24Z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